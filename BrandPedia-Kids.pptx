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BrandPedia Kids</c:v>
                </c:pt>
              </c:strCache>
            </c:strRef>
          </c:tx>
          <c:spPr>
            <a:ln w="38100">
              <a:solidFill>
                <a:srgbClr val="FF7A59"/>
              </a:solidFill>
            </a:ln>
          </c:spPr>
          <c:marker>
            <c:symbol val="circle"/>
            <c:size val="8"/>
            <c:spPr>
              <a:solidFill>
                <a:srgbClr val="FF7A59"/>
              </a:solidFill>
              <a:ln>
                <a:noFill/>
              </a:ln>
            </c:spPr>
          </c:marker>
          <c:cat>
            <c:strRef>
              <c:f>Sheet1!$A$2:$A$7</c:f>
              <c:strCache>
                <c:ptCount val="6"/>
                <c:pt idx="0">
                  <c:v>Speed</c:v>
                </c:pt>
                <c:pt idx="1">
                  <c:v>Cost-
efficiency</c:v>
                </c:pt>
                <c:pt idx="2">
                  <c:v>Reliability</c:v>
                </c:pt>
                <c:pt idx="3">
                  <c:v>Kid-fit</c:v>
                </c:pt>
                <c:pt idx="4">
                  <c:v>Coverage</c:v>
                </c:pt>
                <c:pt idx="5">
                  <c:v>Engagement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9</c:v>
                </c:pt>
                <c:pt idx="2">
                  <c:v>7</c:v>
                </c:pt>
                <c:pt idx="3">
                  <c:v>10</c:v>
                </c:pt>
                <c:pt idx="4">
                  <c:v>10</c:v>
                </c:pt>
                <c:pt idx="5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YouTube / Wikipedia</c:v>
                </c:pt>
              </c:strCache>
            </c:strRef>
          </c:tx>
          <c:spPr>
            <a:ln w="28575">
              <a:solidFill>
                <a:srgbClr val="6B6A8F"/>
              </a:solidFill>
            </a:ln>
          </c:spPr>
          <c:marker>
            <c:symbol val="circle"/>
            <c:size val="8"/>
            <c:spPr>
              <a:solidFill>
                <a:srgbClr val="6B6A8F"/>
              </a:solidFill>
              <a:ln>
                <a:noFill/>
              </a:ln>
            </c:spPr>
          </c:marker>
          <c:cat>
            <c:strRef>
              <c:f>Sheet1!$A$2:$A$7</c:f>
              <c:strCache>
                <c:ptCount val="6"/>
                <c:pt idx="0">
                  <c:v>Speed</c:v>
                </c:pt>
                <c:pt idx="1">
                  <c:v>Cost-
efficiency</c:v>
                </c:pt>
                <c:pt idx="2">
                  <c:v>Reliability</c:v>
                </c:pt>
                <c:pt idx="3">
                  <c:v>Kid-fit</c:v>
                </c:pt>
                <c:pt idx="4">
                  <c:v>Coverage</c:v>
                </c:pt>
                <c:pt idx="5">
                  <c:v>Engagement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10</c:v>
                </c:pt>
                <c:pt idx="2">
                  <c:v>8</c:v>
                </c:pt>
                <c:pt idx="3">
                  <c:v>3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Tutoring / Books</c:v>
                </c:pt>
              </c:strCache>
            </c:strRef>
          </c:tx>
          <c:spPr>
            <a:ln w="28575">
              <a:solidFill>
                <a:srgbClr val="4CC9F0"/>
              </a:solidFill>
            </a:ln>
          </c:spPr>
          <c:marker>
            <c:symbol val="circle"/>
            <c:size val="8"/>
            <c:spPr>
              <a:solidFill>
                <a:srgbClr val="4CC9F0"/>
              </a:solidFill>
              <a:ln>
                <a:noFill/>
              </a:ln>
            </c:spPr>
          </c:marker>
          <c:cat>
            <c:strRef>
              <c:f>Sheet1!$A$2:$A$7</c:f>
              <c:strCache>
                <c:ptCount val="6"/>
                <c:pt idx="0">
                  <c:v>Speed</c:v>
                </c:pt>
                <c:pt idx="1">
                  <c:v>Cost-
efficiency</c:v>
                </c:pt>
                <c:pt idx="2">
                  <c:v>Reliability</c:v>
                </c:pt>
                <c:pt idx="3">
                  <c:v>Kid-fit</c:v>
                </c:pt>
                <c:pt idx="4">
                  <c:v>Coverage</c:v>
                </c:pt>
                <c:pt idx="5">
                  <c:v>Engagement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9</c:v>
                </c:pt>
                <c:pt idx="3">
                  <c:v>6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1">
                <a:latin typeface="Inte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Inter"/>
              </a:defRPr>
            </a:pPr>
          </a:p>
        </c:txPr>
        <c:crossAx val="2118791784"/>
        <c:crosses val="autoZero"/>
        <c:majorUnit val="2.0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Inte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7A59"/>
                </a:solidFill>
                <a:latin typeface="Inter"/>
              </a:rPr>
              <a:t>IAI²O 2026 · AI FOR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300"/>
              </a:spcAft>
            </a:pPr>
            <a:r>
              <a:rPr sz="92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92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8892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Kids  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2B2A4C"/>
                </a:solidFill>
                <a:latin typeface="Inter"/>
              </a:rPr>
              <a:t>Turning everyday brands into </a:t>
            </a:r>
            <a:r>
              <a:rPr sz="2600" b="1" i="0">
                <a:solidFill>
                  <a:srgbClr val="FF7A59"/>
                </a:solidFill>
                <a:latin typeface="Inter"/>
              </a:rPr>
              <a:t>AI-generated business lessons</a:t>
            </a:r>
            <a:r>
              <a:rPr sz="2600" b="1" i="0">
                <a:solidFill>
                  <a:srgbClr val="2B2A4C"/>
                </a:solidFill>
                <a:latin typeface="Inter"/>
              </a:rPr>
              <a:t> for kids.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2788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👶  Ages 6–14 · AI business literacy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29768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4297680"/>
            <a:ext cx="2788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🌐  Bilingual · B2C EdTech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297680"/>
            <a:ext cx="27889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297680"/>
            <a:ext cx="2788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⚡  Zero-key runnable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6B6A8F"/>
                </a:solidFill>
                <a:latin typeface="Inter"/>
              </a:rPr>
              <a:t>Presented by: </a:t>
            </a:r>
            <a:r>
              <a:rPr sz="1400" b="1" i="0">
                <a:solidFill>
                  <a:srgbClr val="2B2A4C"/>
                </a:solidFill>
                <a:latin typeface="Inter"/>
              </a:rPr>
              <a:t>Team BrandPedia Kids</a:t>
            </a:r>
            <a:r>
              <a:rPr sz="1400" b="1" i="0">
                <a:solidFill>
                  <a:srgbClr val="6B6A8F"/>
                </a:solidFill>
                <a:latin typeface="Inter"/>
              </a:rPr>
              <a:t>   ·   Track: AI4BIZ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01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354632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02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2709265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2B2A4C"/>
                </a:solidFill>
                <a:latin typeface="Inter"/>
              </a:rPr>
              <a:t>Kids meet hundreds of brands 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2B2A4C"/>
                </a:solidFill>
                <a:latin typeface="Inter"/>
              </a:rPr>
              <a:t>and learn zero business.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70632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6C5CE7"/>
                </a:solidFill>
                <a:latin typeface="Inter"/>
              </a:rPr>
              <a:t>1 in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78892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adults worldwide is financially literate — the cost of never learning early. (S&amp;P Global FinLit Survey)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1188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85032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6C5CE7"/>
                </a:solidFill>
                <a:latin typeface="Inter"/>
              </a:rPr>
              <a:t>15+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0332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is when financial education typically begins — after the 6–14 habit window closes.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2628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99432"/>
            <a:ext cx="137160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6C5CE7"/>
                </a:solidFill>
                <a:latin typeface="Inter"/>
              </a:rPr>
              <a:t>$500B+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617720"/>
            <a:ext cx="33832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in yearly family spending influenced by kids — yet they learn nothing about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697480"/>
            <a:ext cx="53492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8346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B6A8F"/>
                </a:solidFill>
                <a:latin typeface="Inter"/>
              </a:rPr>
              <a:t>HOW A KID TRIES TODAY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337560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337560"/>
            <a:ext cx="11430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429000"/>
            <a:ext cx="9235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🧒 Wonders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703320"/>
            <a:ext cx="9966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"Why is Coke cheap?"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35204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6B6A8F"/>
                </a:solidFill>
                <a:latin typeface="Int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3337560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3337560"/>
            <a:ext cx="11430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3429000"/>
            <a:ext cx="9235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🔍 Google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3703320"/>
            <a:ext cx="9966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adult articles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35204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6B6A8F"/>
                </a:solidFill>
                <a:latin typeface="Inter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3337560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49640" y="3337560"/>
            <a:ext cx="11430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8" y="3429000"/>
            <a:ext cx="9235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📄 Wikipedia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3703320"/>
            <a:ext cx="9966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dry, jargon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8" y="35204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6B6A8F"/>
                </a:solidFill>
                <a:latin typeface="Int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3337560"/>
            <a:ext cx="11430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8360" y="3337560"/>
            <a:ext cx="11430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48088" y="3429000"/>
            <a:ext cx="9235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😮‍💨 Gives 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3703320"/>
            <a:ext cx="9966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✗ no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343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6B6A8F"/>
                </a:solidFill>
                <a:latin typeface="Inter"/>
              </a:rPr>
              <a:t>No path built for a 10-year-old.  </a:t>
            </a:r>
            <a:r>
              <a:rPr sz="1200" b="1" i="0">
                <a:solidFill>
                  <a:srgbClr val="EF4444"/>
                </a:solidFill>
                <a:latin typeface="Inter"/>
              </a:rPr>
              <a:t>→ The inefficiency we fix.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07492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6B6A8F"/>
                </a:solidFill>
                <a:latin typeface="Inter"/>
              </a:rPr>
              <a:t>Existing resources are adult-targeted text; the 6–14 age range is a blank zone for business literacy.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03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4063898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THE AI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2B2A4C"/>
                </a:solidFill>
                <a:latin typeface="Inter"/>
              </a:rPr>
              <a:t>From curiosity to comprehension 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2B2A4C"/>
                </a:solidFill>
                <a:latin typeface="Inter"/>
              </a:rPr>
              <a:t>in seconds, for any brand.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28346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2A4C"/>
                </a:solidFill>
                <a:latin typeface="Inter"/>
              </a:rPr>
              <a:t>USER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B2A4C"/>
                </a:solidFill>
                <a:latin typeface="Inter"/>
              </a:rPr>
              <a:t>🧒 A child types
any 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FF7A59"/>
                </a:solidFill>
                <a:latin typeface="Inte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8346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971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>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33756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🤖 Generates a full,
kid-friendly lesson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71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383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FF7A59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8346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971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2A4C"/>
                </a:solidFill>
                <a:latin typeface="Inter"/>
              </a:rPr>
              <a:t>AI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33756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B2A4C"/>
                </a:solidFill>
                <a:latin typeface="Inter"/>
              </a:rPr>
              <a:t>🎧 Podcast + 🖼️ cards
+ 🧠 quiz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2708" y="4572000"/>
            <a:ext cx="3200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2708" y="457200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🎙️ 2 AI hosts · 3–5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4276" y="4572000"/>
            <a:ext cx="3200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4276" y="457200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🖼️ Cards sync to audio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95844" y="4572000"/>
            <a:ext cx="3200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95844" y="457200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🧠 6 business dimensions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93492" y="5120640"/>
            <a:ext cx="3200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93492" y="512064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🃏 Auto quiz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5060" y="5120640"/>
            <a:ext cx="320040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5060" y="512064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⚡ Any brand, on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04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5418531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COMPETITIVE VALUE CURVE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932688"/>
            <a:ext cx="1554480" cy="256032"/>
          </a:xfrm>
          <a:prstGeom prst="roundRect">
            <a:avLst>
              <a:gd name="adj" fmla="val 8000"/>
            </a:avLst>
          </a:prstGeom>
          <a:solidFill>
            <a:srgbClr val="2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6" y="932688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★ MANDATORY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2B2A4C"/>
                </a:solidFill>
                <a:latin typeface="Inter"/>
              </a:rPr>
              <a:t>Higher &amp; broader value across every factor that matters.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96596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0080" y="2240280"/>
          <a:ext cx="108813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B6A8F"/>
                </a:solidFill>
                <a:latin typeface="Inter"/>
              </a:rPr>
              <a:t>Scores (1–10) reflect each option's product-design characteristics; full benchmark in the business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05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6773164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AI SYSTEM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932688"/>
            <a:ext cx="1554480" cy="256032"/>
          </a:xfrm>
          <a:prstGeom prst="roundRect">
            <a:avLst>
              <a:gd name="adj" fmla="val 8000"/>
            </a:avLst>
          </a:prstGeom>
          <a:solidFill>
            <a:srgbClr val="2B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932688"/>
            <a:ext cx="15544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Inter"/>
              </a:rPr>
              <a:t>★ MANDATORY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2B2A4C"/>
                </a:solidFill>
                <a:latin typeface="Inter"/>
              </a:rPr>
              <a:t>Data inputs → AI model processing → user outputs.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96596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402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6C5CE7"/>
                </a:solidFill>
                <a:latin typeface="Inter"/>
              </a:rPr>
              <a:t>① DATA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697480"/>
            <a:ext cx="3200400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88920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🧒 Brand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" y="3063240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typed by the child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02152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02152"/>
            <a:ext cx="3200400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9359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📚 Curated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1" y="3867912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founder · year · country · facts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06824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06824"/>
            <a:ext cx="3200400" cy="6400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39826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📝 Kid wishlist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" y="4672584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survey + search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35661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6B6A8F"/>
                </a:solidFill>
                <a:latin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2402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7A59"/>
                </a:solidFill>
                <a:latin typeface="Inter"/>
              </a:rPr>
              <a:t>② AI MODEL PROCESSING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697480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2697480"/>
            <a:ext cx="38404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2788920"/>
            <a:ext cx="36210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🧠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3063240"/>
            <a:ext cx="36941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writes 6-dim kid script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60" y="3502152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3502152"/>
            <a:ext cx="38404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3593592"/>
            <a:ext cx="36210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🗣️ TTS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3867912"/>
            <a:ext cx="36941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two distinct host voices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306824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4306824"/>
            <a:ext cx="38404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4398264"/>
            <a:ext cx="36210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🎨 Image / chart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5112" y="4672584"/>
            <a:ext cx="36941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illustrations +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111496"/>
            <a:ext cx="384048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5111496"/>
            <a:ext cx="38404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61688" y="5202936"/>
            <a:ext cx="36210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🧩 Assembler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5112" y="5477256"/>
            <a:ext cx="369417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cards + quiz · deterministic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0728" y="35661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6B6A8F"/>
                </a:solidFill>
                <a:latin typeface="Inter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22402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6D6A0"/>
                </a:solidFill>
                <a:latin typeface="Inter"/>
              </a:rPr>
              <a:t>③ USER OUTPUTS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2697480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03920" y="2697480"/>
            <a:ext cx="3200400" cy="64008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13648" y="2788920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🎧 Podcast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3063240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3–5 min, dual hosts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03920" y="3502152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03920" y="3502152"/>
            <a:ext cx="3200400" cy="64008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13648" y="359359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🖼️ Synced cards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7072" y="3867912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charts · timeline · story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03920" y="4306824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03920" y="4306824"/>
            <a:ext cx="3200400" cy="64008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13648" y="439826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🧠 Quiz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77072" y="4672584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6 questions, real distractors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5111496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03920" y="5111496"/>
            <a:ext cx="3200400" cy="64008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13648" y="5202936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2A4C"/>
                </a:solidFill>
                <a:latin typeface="Inter"/>
              </a:rPr>
              <a:t>♻️ Feedback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77072" y="5477256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1">
                <a:solidFill>
                  <a:srgbClr val="6B6A8F"/>
                </a:solidFill>
                <a:latin typeface="Inter"/>
              </a:rPr>
              <a:t>wishes train recommendations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B6A8F"/>
                </a:solidFill>
                <a:latin typeface="Inter"/>
              </a:rPr>
              <a:t>Every stage is env-gated with an offline fallback — the pipeline runs with </a:t>
            </a:r>
            <a:r>
              <a:rPr sz="1100" b="1" i="0">
                <a:solidFill>
                  <a:srgbClr val="2B2A4C"/>
                </a:solidFill>
                <a:latin typeface="Inter"/>
              </a:rPr>
              <a:t>zero API keys</a:t>
            </a:r>
            <a:r>
              <a:rPr sz="1100" b="0" i="1">
                <a:solidFill>
                  <a:srgbClr val="6B6A8F"/>
                </a:solidFill>
                <a:latin typeface="Inter"/>
              </a:rPr>
              <a:t> and upgrades to real models with one env var.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06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8127796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MARKET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2B2A4C"/>
                </a:solidFill>
                <a:latin typeface="Inter"/>
              </a:rPr>
              <a:t>Three growing markets converge on one product.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6888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B6A8F"/>
                </a:solidFill>
                <a:latin typeface="Inter"/>
              </a:rPr>
              <a:t>TAM · Total Addressable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6C5CE7"/>
                </a:solidFill>
                <a:latin typeface="Inter"/>
              </a:rPr>
              <a:t>~$300B+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6B6A8F"/>
                </a:solidFill>
                <a:latin typeface="Inter"/>
              </a:rPr>
              <a:t>Global K-12 supplemental education + children's audio/edutainment. (HolonIQ: global edtech on track for $300B+.)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69748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834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B6A8F"/>
                </a:solidFill>
                <a:latin typeface="Inter"/>
              </a:rPr>
              <a:t>SAM · Serviceable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00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F7A59"/>
                </a:solidFill>
                <a:latin typeface="Inter"/>
              </a:rPr>
              <a:t>~$10–20B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233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6B6A8F"/>
                </a:solidFill>
                <a:latin typeface="Inter"/>
              </a:rPr>
              <a:t>English + Chinese families &amp; schools seeking business/financial literacy for ages 6–14.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9748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6B6A8F"/>
                </a:solidFill>
                <a:latin typeface="Inter"/>
              </a:rPr>
              <a:t>SOM · Obtainable (3 yr)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06D6A0"/>
                </a:solidFill>
                <a:latin typeface="Inter"/>
              </a:rPr>
              <a:t>$30–60M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0233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1">
                <a:solidFill>
                  <a:srgbClr val="6B6A8F"/>
                </a:solidFill>
                <a:latin typeface="Inter"/>
              </a:rPr>
              <a:t>A single-digit-percent share via B2C subscriptions + first B2B school pilots.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6B6A8F"/>
                </a:solidFill>
                <a:latin typeface="Inter"/>
              </a:rPr>
              <a:t>Order-of-magnitude estimates tied to public report categories (HolonIQ edtech, children's audio growth). Detailed sourcing in the business plan — no figures invented.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07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9482429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GO-TO-MARKET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0">
                <a:solidFill>
                  <a:srgbClr val="2B2A4C"/>
                </a:solidFill>
                <a:latin typeface="Inter"/>
              </a:rPr>
              <a:t>Product-led growth first — then schools, then brands.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6888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697480"/>
            <a:ext cx="2514600" cy="9144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 i="0">
                <a:solidFill>
                  <a:srgbClr val="2B2A4C"/>
                </a:solidFill>
                <a:latin typeface="Inter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2A4C"/>
                </a:solidFill>
                <a:latin typeface="Inter"/>
              </a:rPr>
              <a:t>1. Product-Led Growth (now)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6B6A8F"/>
                </a:solidFill>
                <a:latin typeface="Inter"/>
              </a:rPr>
              <a:t>Free "explore any brand" is the viral hook. Kids share brands they generated; parents convert to paid.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269748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697480"/>
            <a:ext cx="2514600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 i="0">
                <a:solidFill>
                  <a:srgbClr val="2B2A4C"/>
                </a:solidFill>
                <a:latin typeface="Inter"/>
              </a:rPr>
              <a:t>👨‍👩‍👧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2A4C"/>
                </a:solidFill>
                <a:latin typeface="Inter"/>
              </a:rPr>
              <a:t>2. Communities &amp; creators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02336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6B6A8F"/>
                </a:solidFill>
                <a:latin typeface="Inter"/>
              </a:rPr>
              <a:t>Parent forums, education influencers, and kid-focused creators drive low-CAC B2C signups.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9748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25146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 i="0">
                <a:solidFill>
                  <a:srgbClr val="2B2A4C"/>
                </a:solidFill>
                <a:latin typeface="Inter"/>
              </a:rPr>
              <a:t>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2A4C"/>
                </a:solidFill>
                <a:latin typeface="Inter"/>
              </a:rPr>
              <a:t>3. B2B school pilots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2336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6B6A8F"/>
                </a:solidFill>
                <a:latin typeface="Inter"/>
              </a:rPr>
              <a:t>Course pack + teacher dashboard. Land 3–5 pilot schools, then expand district-wide.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69748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5400" y="2697480"/>
            <a:ext cx="2514600" cy="9144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 i="0">
                <a:solidFill>
                  <a:srgbClr val="2B2A4C"/>
                </a:solidFill>
                <a:latin typeface="Inter"/>
              </a:rPr>
              <a:t>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4747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B2A4C"/>
                </a:solidFill>
                <a:latin typeface="Inter"/>
              </a:rPr>
              <a:t>4. Brand partnerships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02336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6B6A8F"/>
                </a:solidFill>
                <a:latin typeface="Inter"/>
              </a:rPr>
              <a:t>Once traction is visible, onboard brands for official deep-dive pages and campaigns.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Solo-founder friendly: PLG front-loads organic growth before any enterprise sales 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08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0837062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FINANCIAL PROJECTIONS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2B2A4C"/>
                </a:solidFill>
                <a:latin typeface="Inter"/>
              </a:rPr>
              <a:t>3-year forecast — with AI / API costs broken 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6596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22960" y="2286000"/>
          <a:ext cx="694029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16152"/>
                <a:gridCol w="1216152"/>
                <a:gridCol w="1216152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6B6A8F"/>
                          </a:solidFill>
                          <a:latin typeface="Inter"/>
                        </a:rPr>
                        <a:t>$ USD (est.)</a:t>
                      </a:r>
                    </a:p>
                  </a:txBody>
                  <a:tcPr marL="76200" marR="76200" marT="25400" marB="25400">
                    <a:solidFill>
                      <a:srgbClr val="FBEE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6B6A8F"/>
                          </a:solidFill>
                          <a:latin typeface="Inter"/>
                        </a:rPr>
                        <a:t>Year 1</a:t>
                      </a:r>
                    </a:p>
                  </a:txBody>
                  <a:tcPr marL="76200" marR="76200" marT="25400" marB="25400">
                    <a:solidFill>
                      <a:srgbClr val="FBEE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6B6A8F"/>
                          </a:solidFill>
                          <a:latin typeface="Inter"/>
                        </a:rPr>
                        <a:t>Year 2</a:t>
                      </a:r>
                    </a:p>
                  </a:txBody>
                  <a:tcPr marL="76200" marR="76200" marT="25400" marB="25400">
                    <a:solidFill>
                      <a:srgbClr val="FBEE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6B6A8F"/>
                          </a:solidFill>
                          <a:latin typeface="Inter"/>
                        </a:rPr>
                        <a:t>Year 3</a:t>
                      </a:r>
                    </a:p>
                  </a:txBody>
                  <a:tcPr marL="76200" marR="76200" marT="25400" marB="25400">
                    <a:solidFill>
                      <a:srgbClr val="FBEEE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B2C subscriptions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180k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1.2M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4.8M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B2B school licensing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40k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400k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1.8M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Brand partnerships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100k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500k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Revenue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220k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1.70M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7.10M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AI / API costs (LLM · TTS · image)</a:t>
                      </a:r>
                    </a:p>
                  </a:txBody>
                  <a:tcPr marL="76200" marR="76200" marT="25400" marB="25400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30k</a:t>
                      </a:r>
                    </a:p>
                  </a:txBody>
                  <a:tcPr marL="76200" marR="76200" marT="25400" marB="25400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180k</a:t>
                      </a:r>
                    </a:p>
                  </a:txBody>
                  <a:tcPr marL="76200" marR="76200" marT="25400" marB="25400">
                    <a:solidFill>
                      <a:srgbClr val="FFF6E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600k</a:t>
                      </a:r>
                    </a:p>
                  </a:txBody>
                  <a:tcPr marL="76200" marR="76200" marT="25400" marB="25400">
                    <a:solidFill>
                      <a:srgbClr val="FFF6E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Hosting (Serverless)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6k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30k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90k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Content QA &amp; curriculum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40k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120k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250k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Team &amp; operations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120k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400k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900k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Marketing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50k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300k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A4C"/>
                          </a:solidFill>
                          <a:latin typeface="Inter"/>
                        </a:rPr>
                        <a:t>900k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Total costs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246k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1.03M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2B2A4C"/>
                          </a:solidFill>
                          <a:latin typeface="Inter"/>
                        </a:rPr>
                        <a:t>2.74M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6D6A0"/>
                          </a:solidFill>
                          <a:latin typeface="Inter"/>
                        </a:rPr>
                        <a:t>Net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6D6A0"/>
                          </a:solidFill>
                          <a:latin typeface="Inter"/>
                        </a:rPr>
                        <a:t>−26k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6D6A0"/>
                          </a:solidFill>
                          <a:latin typeface="Inter"/>
                        </a:rPr>
                        <a:t>+670k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6D6A0"/>
                          </a:solidFill>
                          <a:latin typeface="Inter"/>
                        </a:rPr>
                        <a:t>+4.36M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01000" y="22860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286000"/>
            <a:ext cx="91440" cy="178308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423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A4C"/>
                </a:solidFill>
                <a:latin typeface="Inter"/>
              </a:rPr>
              <a:t>🔑 API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8892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≈ $0.05 per generated lesson (LLM + TTS + image). Marginal content cost trends to </a:t>
            </a:r>
            <a:r>
              <a:rPr sz="1150" b="1" i="0">
                <a:solidFill>
                  <a:srgbClr val="2B2A4C"/>
                </a:solidFill>
                <a:latin typeface="Inter"/>
              </a:rPr>
              <a:t>zero</a:t>
            </a:r>
            <a:r>
              <a:rPr sz="1150" b="0" i="1">
                <a:solidFill>
                  <a:srgbClr val="6B6A8F"/>
                </a:solidFill>
                <a:latin typeface="Inter"/>
              </a:rPr>
              <a:t> — margin improves with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20624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4206240"/>
            <a:ext cx="91440" cy="178308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4343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A4C"/>
                </a:solidFill>
                <a:latin typeface="Inter"/>
              </a:rPr>
              <a:t>📊 Assumptions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70916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B2C paid users 3k→20k→80k @ ~$60/yr ARPU; API scales with usage. Breakeven mid-Year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1">
                <a:solidFill>
                  <a:srgbClr val="6B6A8F"/>
                </a:solidFill>
                <a:latin typeface="Inter"/>
              </a:rPr>
              <a:t>Model-based projections from stated assumptions; see business plan for the unit-economics build-up.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B2A4C"/>
                </a:solidFill>
                <a:latin typeface="Inter"/>
              </a:rPr>
              <a:t>Brand</a:t>
            </a:r>
            <a:r>
              <a:rPr sz="1300" b="1" i="0">
                <a:solidFill>
                  <a:srgbClr val="FF7A59"/>
                </a:solidFill>
                <a:latin typeface="Inter"/>
              </a:rPr>
              <a:t>Pedia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310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310896"/>
            <a:ext cx="56692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6C5CE7"/>
                </a:solidFill>
                <a:latin typeface="Inter"/>
              </a:rPr>
              <a:t>Kids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292608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B6A8F"/>
                </a:solidFill>
                <a:latin typeface="Inter"/>
              </a:rPr>
              <a:t>09</a:t>
            </a:r>
            <a:r>
              <a:rPr sz="1300" b="1" i="0">
                <a:solidFill>
                  <a:srgbClr val="6C5CE7"/>
                </a:solidFill>
                <a:latin typeface="Inter"/>
              </a:rPr>
              <a:t>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96926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7A59"/>
                </a:solidFill>
                <a:latin typeface="Inter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 i="0">
                <a:solidFill>
                  <a:srgbClr val="2B2A4C"/>
                </a:solidFill>
                <a:latin typeface="Inter"/>
              </a:rPr>
              <a:t>What we need to reach 100,000 kids.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68880"/>
            <a:ext cx="640080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697480"/>
            <a:ext cx="2514600" cy="9144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2B2A4C"/>
                </a:solidFill>
                <a:latin typeface="Inter"/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A4C"/>
                </a:solidFill>
                <a:latin typeface="Inter"/>
              </a:rPr>
              <a:t>$25k — API &amp; compute credits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GPT-4o-class LLM + ElevenLabs/Azure TTS + image generation for ~500k lessons.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269748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697480"/>
            <a:ext cx="2514600" cy="914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2B2A4C"/>
                </a:solidFill>
                <a:latin typeface="Inter"/>
              </a:rPr>
              <a:t>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290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A4C"/>
                </a:solidFill>
                <a:latin typeface="Inter"/>
              </a:rPr>
              <a:t>$15k — 3 pilot schools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06908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Onboarding, teacher-dashboard build, and localized content QA for paid B2B pilots.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9748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2514600" cy="9144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2B2A4C"/>
                </a:solidFill>
                <a:latin typeface="Inter"/>
              </a:rPr>
              <a:t>🧑‍💻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A4C"/>
                </a:solidFill>
                <a:latin typeface="Inter"/>
              </a:rPr>
              <a:t>$40k — 6-month runway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Founder + part-time content/AI help to ship the teacher dashboard and multilingual launch.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69748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5400" y="2697480"/>
            <a:ext cx="2514600" cy="91440"/>
          </a:xfrm>
          <a:prstGeom prst="rect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29260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2B2A4C"/>
                </a:solidFill>
                <a:latin typeface="Inter"/>
              </a:rPr>
              <a:t>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4290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A4C"/>
                </a:solidFill>
                <a:latin typeface="Inter"/>
              </a:rPr>
              <a:t>Intros &amp; mentorship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069080"/>
            <a:ext cx="21945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1">
                <a:solidFill>
                  <a:srgbClr val="6B6A8F"/>
                </a:solidFill>
                <a:latin typeface="Inter"/>
              </a:rPr>
              <a:t>Warm introductions to 2–3 schools + 2 brand partners, and ongoing judge mentorship.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577840"/>
            <a:ext cx="10515600" cy="822960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🎯 Total ask: ~$80k + partnerships → a product kids use today, and a literacy mission worth building.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Arial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