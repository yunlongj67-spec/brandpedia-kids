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10642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IAI²O 2026 · AI FOR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>
                <a:solidFill>
                  <a:srgbClr val="2B2A4C"/>
                </a:solidFill>
                <a:latin typeface="Inter"/>
              </a:rPr>
              <a:t>Brand</a:t>
            </a:r>
            <a:r>
              <a:rPr sz="96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246120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Kids 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B2A4C"/>
                </a:solidFill>
                <a:latin typeface="Inter"/>
              </a:rPr>
              <a:t>Turning everyday brands into </a:t>
            </a:r>
            <a:r>
              <a:rPr sz="2600" b="1">
                <a:solidFill>
                  <a:srgbClr val="6C5CE7"/>
                </a:solidFill>
                <a:latin typeface="Inter"/>
              </a:rPr>
              <a:t>stories kids get</a:t>
            </a:r>
            <a:r>
              <a:rPr sz="2600" b="1">
                <a:solidFill>
                  <a:srgbClr val="2B2A4C"/>
                </a:solidFill>
                <a:latin typeface="Inter"/>
              </a:rPr>
              <a:t>  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63440"/>
            <a:ext cx="29260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2B2A4C"/>
                </a:solidFill>
                <a:latin typeface="Inter"/>
              </a:rPr>
              <a:t>🎯  AI business literacy, ages 6–14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4663440"/>
            <a:ext cx="29260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2B2A4C"/>
                </a:solidFill>
                <a:latin typeface="Inter"/>
              </a:rPr>
              <a:t>🌐  Bilingual · B2C EdTech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663440"/>
            <a:ext cx="29260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2B2A4C"/>
                </a:solidFill>
                <a:latin typeface="Inter"/>
              </a:rPr>
              <a:t>⚡  Runs with zero API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57150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6B6A8F"/>
                </a:solidFill>
                <a:latin typeface="Inter"/>
              </a:rPr>
              <a:t>🧃🎮👟🍎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01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812779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Kids live in a world of brands 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but understand none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C5CE7"/>
                </a:solidFill>
                <a:latin typeface="Inter"/>
              </a:rPr>
              <a:t>They're surrounded by brands, yet grasp nothing about how business works.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5760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0448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84962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From a Starbucks coffee to an iPhone, every product hides a lesson in pricing, supply chain &amp; consumer psychology.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A8F"/>
                </a:solidFill>
                <a:latin typeface="Inter"/>
              </a:rPr>
              <a:t>But nobody explains it to kids.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4456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079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Traditional business / financial literacy is dry and abstract — kids simply tune 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818888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A8F"/>
                </a:solidFill>
                <a:latin typeface="Inter"/>
              </a:rPr>
              <a:t>Textbooks don't speak their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0293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2122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66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Parents want to teach, but can't find content kids actually understand.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4772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A8F"/>
                </a:solidFill>
                <a:latin typeface="Inter"/>
              </a:rPr>
              <a:t>The gap between expert and kid-friendly is huge.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861304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79592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8247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Ages 6–14 are the golden window for cognition — and a blank zone for business literacy.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613562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A8F"/>
                </a:solidFill>
                <a:latin typeface="Inter"/>
              </a:rPr>
              <a:t>The exact age no one is serving.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02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625559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OUR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B2A4C"/>
                </a:solidFill>
                <a:latin typeface="Inter"/>
              </a:rPr>
              <a:t>An AI children's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B2A4C"/>
                </a:solidFill>
                <a:latin typeface="Inter"/>
              </a:rPr>
              <a:t>business encyclopedia.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C5CE7"/>
                </a:solidFill>
                <a:latin typeface="Inter"/>
              </a:rPr>
              <a:t>AI-driven — kids learn business by listening to stories.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5760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34290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931920"/>
            <a:ext cx="3429000" cy="10972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2B2A4C"/>
                </a:solidFill>
                <a:latin typeface="Inter"/>
              </a:rPr>
              <a:t>Listen, don't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A conversational podcast: two virtual hosts chat through each brand in 3–5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4290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3931920"/>
            <a:ext cx="3429000" cy="109728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416052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7091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2B2A4C"/>
                </a:solidFill>
                <a:latin typeface="Inter"/>
              </a:rPr>
              <a:t>Understand, not just watch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12064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Six dimensions break each brand into memorable business logic.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931920"/>
            <a:ext cx="34290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3931920"/>
            <a:ext cx="3429000" cy="109728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16052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7091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2B2A4C"/>
                </a:solidFill>
                <a:latin typeface="Inter"/>
              </a:rPr>
              <a:t>Explore any brand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12064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Type any brand a kid is curious about — AI builds the full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03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2438339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PRODUCT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Three experiences, one playful 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3429000" cy="10972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2B2A4C"/>
                </a:solidFill>
                <a:latin typeface="Inter"/>
              </a:rPr>
              <a:t>🖼️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089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① Logo Wall · 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30+ curated brands in a grid. Hover to enlarge, click to flip for a fun fact, then enter.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37744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377440"/>
            <a:ext cx="3429000" cy="109728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2B2A4C"/>
                </a:solidFill>
                <a:latin typeface="Inter"/>
              </a:rPr>
              <a:t>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089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② Podcast + Card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A bottom Mini Player plays audio; cards highlight in sync with the podcast beat.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37744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377440"/>
            <a:ext cx="3429000" cy="109728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2B2A4C"/>
                </a:solidFill>
                <a:latin typeface="Inter"/>
              </a:rP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③ Explore New Brands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Type 'Pop Mart' or 'Mixue' — a robot-loading animation, then a full brand page.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074920"/>
            <a:ext cx="1634947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🃏 Flip animation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7635" y="5074920"/>
            <a:ext cx="1876348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🎚️ Speed 0.8/1/1.2x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3711" y="5074920"/>
            <a:ext cx="1393545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📊 Chart cards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56984" y="5074920"/>
            <a:ext cx="1634947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⏳ Timeline cards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01659" y="5074920"/>
            <a:ext cx="830275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🧠 Quiz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41662" y="5074920"/>
            <a:ext cx="1634947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00" b="1">
                <a:solidFill>
                  <a:srgbClr val="2B2A4C"/>
                </a:solidFill>
                <a:latin typeface="Inter"/>
              </a:rPr>
              <a:t>🔗 Related brands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04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3251118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THE EXPERIENCE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How a kid actually learns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2468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01368" y="254203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1368" y="258775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5468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🔍 Browse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20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Pick a familiar brand from the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1546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377440"/>
            <a:ext cx="2468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90288" y="254203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58775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15468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🎧 Listen &amp;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3520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Hosts chat; cards flip in sync with audio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1546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377440"/>
            <a:ext cx="2468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79208" y="254203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9208" y="258775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15468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🧠 Quiz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520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7 question types; distractors from real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1546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2377440"/>
            <a:ext cx="2468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68128" y="254203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68128" y="258775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15468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🤖 Explore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520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'I want to learn…' → AI generates a new brand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75488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✨  Key mechanism: podcast ↔ card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3492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B6A8F"/>
                </a:solidFill>
                <a:latin typeface="Inter"/>
              </a:rPr>
              <a:t>Every podcast segment is bound to a card via segment.cardId — when audio reaches it, the card highlights and scrolls into view. </a:t>
            </a:r>
            <a:r>
              <a:rPr sz="1450" b="1">
                <a:solidFill>
                  <a:srgbClr val="FF7A59"/>
                </a:solidFill>
                <a:latin typeface="Inter"/>
              </a:rPr>
              <a:t>What you hear is what you see</a:t>
            </a:r>
            <a:r>
              <a:rPr sz="1450" b="0">
                <a:solidFill>
                  <a:srgbClr val="6B6A8F"/>
                </a:solidFill>
                <a:latin typeface="Inter"/>
              </a:rPr>
              <a:t> — enabling multimodal learning.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05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4063898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CURRICULUM · SIX DIMENSIONS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A complete picture of every brand.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3429000" cy="9144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56032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9900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Brand 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364991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How it began, who founded it, memorable moments.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33172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331720"/>
            <a:ext cx="3429000" cy="9144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256032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29900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Product Thinking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3364991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What they sell — and why it resonates.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33172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331720"/>
            <a:ext cx="3429000" cy="9144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256032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9900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Money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364991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Revenue sources and cost structure.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15968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15968"/>
            <a:ext cx="3429000" cy="9144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544568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74336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Marketing Magic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34923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Why the ads work, how it spreads.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4315968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60" y="4315968"/>
            <a:ext cx="3429000" cy="9144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4544568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⚔️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4974336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Competition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6592" y="534923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Who the rivals are and how they compete.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315968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4315968"/>
            <a:ext cx="3429000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4544568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974336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Fun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534923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Memorable numbers and surprising facts.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06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4876678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TECH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One stack, clean layers.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4780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2A4C"/>
                </a:solidFill>
                <a:latin typeface="Inter"/>
              </a:rPr>
              <a:t>Client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6A8F"/>
                </a:solidFill>
                <a:latin typeface="Inter"/>
              </a:rPr>
              <a:t>Frontend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578608"/>
            <a:ext cx="2198217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Next.js 16 · App Router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5465" y="2578608"/>
            <a:ext cx="991209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React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26402" y="2578608"/>
            <a:ext cx="1152143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8273" y="2578608"/>
            <a:ext cx="123261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Tailwind v4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30612" y="2578608"/>
            <a:ext cx="1393545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Framer Motion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1821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6A8F"/>
                </a:solidFill>
                <a:latin typeface="Inter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346704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3346704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9300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2A4C"/>
                </a:solidFill>
                <a:latin typeface="Inter"/>
              </a:rPr>
              <a:t>API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039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6A8F"/>
                </a:solidFill>
                <a:latin typeface="Inter"/>
              </a:rPr>
              <a:t>Next.js Routes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17520" y="3593592"/>
            <a:ext cx="123261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/api/brands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9859" y="3593592"/>
            <a:ext cx="123261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/api/search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02198" y="3593592"/>
            <a:ext cx="1876348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/api/generate (SSE)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8274" y="3593592"/>
            <a:ext cx="991209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/api/tts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89211" y="3593592"/>
            <a:ext cx="1393545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/api/wishlist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419709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6A8F"/>
                </a:solidFill>
                <a:latin typeface="Inter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361688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4361688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079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2A4C"/>
                </a:solidFill>
                <a:latin typeface="Inter"/>
              </a:rPr>
              <a:t>AI Adapters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188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6A8F"/>
                </a:solidFill>
                <a:latin typeface="Inter"/>
              </a:rPr>
              <a:t>Env-gated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17520" y="4608576"/>
            <a:ext cx="1313078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LLM · OpenAI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0326" y="4608576"/>
            <a:ext cx="2278684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TTS · ElevenLabs / Azure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28738" y="4608576"/>
            <a:ext cx="1474012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Image · DALL·E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5212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6A8F"/>
                </a:solidFill>
                <a:latin typeface="Inter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376672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2960" y="5376672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2297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2A4C"/>
                </a:solidFill>
                <a:latin typeface="Inter"/>
              </a:rPr>
              <a:t>Local Fallback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8338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6A8F"/>
                </a:solidFill>
                <a:latin typeface="Inter"/>
              </a:rPr>
              <a:t>Zero-key 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17520" y="5623560"/>
            <a:ext cx="2117750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Web Speech dual voices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44998" y="5623560"/>
            <a:ext cx="1634947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SVG/Emoji charts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89673" y="5623560"/>
            <a:ext cx="179588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Template generator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5282" y="5623560"/>
            <a:ext cx="179588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2B2A4C"/>
                </a:solidFill>
                <a:latin typeface="Inter"/>
              </a:rPr>
              <a:t>Local JSON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07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5689457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THE KEY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2B2A4C"/>
                </a:solidFill>
                <a:latin typeface="Inter"/>
              </a:rPr>
              <a:t>Zero-config now.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2B2A4C"/>
                </a:solidFill>
                <a:latin typeface="Inter"/>
              </a:rPr>
              <a:t>Infinitely scalable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6C5CE7"/>
                </a:solidFill>
                <a:latin typeface="Inter"/>
              </a:rPr>
              <a:t>Works out of the box, then upgrades to real AI services seamlessly.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51206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🔓  No API key · runs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6D6A0"/>
                </a:solidFill>
                <a:latin typeface="Inter"/>
              </a:rPr>
              <a:t>✓  </a:t>
            </a:r>
            <a:r>
              <a:rPr sz="1400" b="1">
                <a:solidFill>
                  <a:srgbClr val="2B2A4C"/>
                </a:solidFill>
                <a:latin typeface="Inter"/>
              </a:rPr>
              <a:t>Browser Web Speech dual-voice podcast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1888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6D6A0"/>
                </a:solidFill>
                <a:latin typeface="Inter"/>
              </a:rPr>
              <a:t>✓  </a:t>
            </a:r>
            <a:r>
              <a:rPr sz="1400" b="1">
                <a:solidFill>
                  <a:srgbClr val="2B2A4C"/>
                </a:solidFill>
                <a:latin typeface="Inter"/>
              </a:rPr>
              <a:t>SVG / Emoji charts and illustrations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6D6A0"/>
                </a:solidFill>
                <a:latin typeface="Inter"/>
              </a:rPr>
              <a:t>✓  </a:t>
            </a:r>
            <a:r>
              <a:rPr sz="1400" b="1">
                <a:solidFill>
                  <a:srgbClr val="2B2A4C"/>
                </a:solidFill>
                <a:latin typeface="Inter"/>
              </a:rPr>
              <a:t>Template generator builds 6-dim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8698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6D6A0"/>
                </a:solidFill>
                <a:latin typeface="Inter"/>
              </a:rPr>
              <a:t>✓  </a:t>
            </a:r>
            <a:r>
              <a:rPr sz="1400" b="1">
                <a:solidFill>
                  <a:srgbClr val="2B2A4C"/>
                </a:solidFill>
                <a:latin typeface="Inter"/>
              </a:rPr>
              <a:t>Local JSON persistence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6035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→ Judges run </a:t>
            </a:r>
            <a:r>
              <a:rPr sz="1250" b="1">
                <a:solidFill>
                  <a:srgbClr val="2B2A4C"/>
                </a:solidFill>
                <a:latin typeface="Inter"/>
              </a:rPr>
              <a:t>npm install &amp;&amp; npm run dev</a:t>
            </a:r>
            <a:r>
              <a:rPr sz="1250" b="0">
                <a:solidFill>
                  <a:srgbClr val="6B6A8F"/>
                </a:solidFill>
                <a:latin typeface="Inter"/>
              </a:rPr>
              <a:t> with zero setup.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94760"/>
            <a:ext cx="51206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🚀  Add an env key · auto-upgrades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80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B2A4C"/>
                </a:solidFill>
                <a:latin typeface="Inter"/>
              </a:rPr>
              <a:t>OPENAI_API_KEY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480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Real LLM writes scripts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8463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B2A4C"/>
                </a:solidFill>
                <a:latin typeface="Inter"/>
              </a:rPr>
              <a:t>ELEVENLABS / AZURE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8463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Studio-grade TTS audio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2120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B2A4C"/>
                </a:solidFill>
                <a:latin typeface="Inter"/>
              </a:rPr>
              <a:t>DALL·E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52120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Real brand illustrations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77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B2A4C"/>
                </a:solidFill>
                <a:latin typeface="Inter"/>
              </a:rPr>
              <a:t>USE_SUPABASE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577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Cloud / Serverless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6035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→ Same interface, </a:t>
            </a:r>
            <a:r>
              <a:rPr sz="1250" b="1">
                <a:solidFill>
                  <a:srgbClr val="6C5CE7"/>
                </a:solidFill>
                <a:latin typeface="Inter"/>
              </a:rPr>
              <a:t>zero migration</a:t>
            </a:r>
            <a:r>
              <a:rPr sz="1250" b="0">
                <a:solidFill>
                  <a:srgbClr val="6B6A8F"/>
                </a:solidFill>
                <a:latin typeface="Inter"/>
              </a:rPr>
              <a:t> from demo to production.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08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6502237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AI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AI done responsibly, for kids.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🗣️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449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Dual-voice podcast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747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Picks one male + one female voice from getVoices(), distinguishes by pitch; supports speed control and segment-seek.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33172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5603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0449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Deterministic seeding (FNV)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Same input → same output, eliminating SSR hydration mismatches for stable, reproducible content.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434839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39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148071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7 question types · 0 wrong 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39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Distractors come from other brands' real data, so options never repeat — correctness fully verified.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434839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663439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48071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SSE streaming generation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5577839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Exploring a new brand streams progress stage-by-stage, synced live with the loading animation.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09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7315017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CONTENT &amp; PEDAGOGY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2B2A4C"/>
                </a:solidFill>
                <a:latin typeface="Inter"/>
              </a:rPr>
              <a:t>Real, varied, kid-true — not fluff.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📚  Real data, hand-verified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6C5CE7"/>
                </a:solidFill>
                <a:latin typeface="Inter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2918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curated brands · 7 categories · hand-checked 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69080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6C5CE7"/>
                </a:solidFill>
                <a:latin typeface="Inter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dimensions/brand · 3 template variants, no repetition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6C5CE7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2120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languages: English + Chinese · full UI toggle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331720"/>
            <a:ext cx="48463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5146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📝  Kid survey · data flywheel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1546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C5CE7"/>
                </a:solidFill>
                <a:latin typeface="Inter"/>
              </a:rPr>
              <a:t>  1  </a:t>
            </a:r>
            <a:r>
              <a:rPr sz="1400" b="1">
                <a:solidFill>
                  <a:srgbClr val="2B2A4C"/>
                </a:solidFill>
                <a:latin typeface="Inter"/>
              </a:rPr>
              <a:t>A 3-step survey asks kids what brand they want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C5CE7"/>
                </a:solidFill>
                <a:latin typeface="Inter"/>
              </a:rPr>
              <a:t>  2  </a:t>
            </a:r>
            <a:r>
              <a:rPr sz="1400" b="1">
                <a:solidFill>
                  <a:srgbClr val="2B2A4C"/>
                </a:solidFill>
                <a:latin typeface="Inter"/>
              </a:rPr>
              <a:t>Smart search returns an accurate introduction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690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C5CE7"/>
                </a:solidFill>
                <a:latin typeface="Inter"/>
              </a:rPr>
              <a:t>  3  </a:t>
            </a:r>
            <a:r>
              <a:rPr sz="1400" b="1">
                <a:solidFill>
                  <a:srgbClr val="2B2A4C"/>
                </a:solidFill>
                <a:latin typeface="Inter"/>
              </a:rPr>
              <a:t>Wishes are saved → fuel popular recommendations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754880"/>
            <a:ext cx="43891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→ The product grows with its users — it learns what kids want to learn.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10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8127796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RESPONSIVE &amp; INCLUSIVE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Works on the family's every screen.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00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PC · uses the wide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5-column desktop / 6-column ultrawide grid; two-column podcast + knowledge cards.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37744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200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iPad · tablet-native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1188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Balanced 3–4 column grid, touch-friendly.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37744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60604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B2A4C"/>
                </a:solidFill>
                <a:latin typeface="Inter"/>
              </a:rPr>
              <a:t>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00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Mobile · mobile-first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61188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2 columns, 44px tap targets, safe-area, iOS zoom prevention.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235915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50" b="1">
                <a:solidFill>
                  <a:srgbClr val="2B2A4C"/>
                </a:solidFill>
                <a:latin typeface="Inter"/>
              </a:rPr>
              <a:t>↔️ No horizontal overflow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39" y="5029200"/>
            <a:ext cx="179588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50" b="1">
                <a:solidFill>
                  <a:srgbClr val="2B2A4C"/>
                </a:solidFill>
                <a:latin typeface="Inter"/>
              </a:rPr>
              <a:t>🟦 safe-area insets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97448" y="5029200"/>
            <a:ext cx="1795881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50" b="1">
                <a:solidFill>
                  <a:srgbClr val="2B2A4C"/>
                </a:solidFill>
                <a:latin typeface="Inter"/>
              </a:rPr>
              <a:t>👆 44px tap targets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03057" y="5029200"/>
            <a:ext cx="1876348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50" b="1">
                <a:solidFill>
                  <a:srgbClr val="2B2A4C"/>
                </a:solidFill>
                <a:latin typeface="Inter"/>
              </a:rPr>
              <a:t>🔎 no iOS focus-zoom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3" y="5029200"/>
            <a:ext cx="1715414" cy="365760"/>
          </a:xfrm>
          <a:prstGeom prst="roundRect">
            <a:avLst>
              <a:gd name="adj" fmla="val 8000"/>
            </a:avLst>
          </a:prstGeom>
          <a:solidFill>
            <a:srgbClr val="FE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250" b="1">
                <a:solidFill>
                  <a:srgbClr val="2B2A4C"/>
                </a:solidFill>
                <a:latin typeface="Inter"/>
              </a:rPr>
              <a:t>♿ aria + keyboard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11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8940576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BUSINESS MODEL (AI4BIZ)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A market-ready path to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52120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109728" cy="173736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87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08152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B2C · Family subscription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747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Free trial + paid unlock of premium brands, unlimited exploration, advanced bilingual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331720"/>
            <a:ext cx="52120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331720"/>
            <a:ext cx="109728" cy="173736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587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B2B · School licensing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4747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Financial-literacy course packs, teacher dashboard, classroom casting — into schools.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70248"/>
            <a:ext cx="52120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70248"/>
            <a:ext cx="109728" cy="173736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5262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02005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Brand partnerships · 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1324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Featured brands can sponsor official deep-dive pages, forming a positive flywheel.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0248"/>
            <a:ext cx="52120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270248"/>
            <a:ext cx="109728" cy="173736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5262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2B2A4C"/>
                </a:solidFill>
                <a:latin typeface="Inter"/>
              </a:rPr>
              <a:t>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02005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B2A4C"/>
                </a:solidFill>
                <a:latin typeface="Inter"/>
              </a:rPr>
              <a:t>Data asset · recommender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1324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A8F"/>
                </a:solidFill>
                <a:latin typeface="Inter"/>
              </a:rPr>
              <a:t>Kids' interest-wish data feeds content production — an early-mover moat.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989320"/>
            <a:ext cx="10515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053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💰 Controlled marginal cost: AI + templates generate content, Serverless stores it — </a:t>
            </a:r>
            <a:r>
              <a:rPr sz="1350" b="1">
                <a:solidFill>
                  <a:srgbClr val="2B2A4C"/>
                </a:solidFill>
                <a:latin typeface="Inter"/>
              </a:rPr>
              <a:t>unit cost falls as scale grows.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12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9753356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MARKET &amp;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Why now, why us, why it wins.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🌍  Market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5468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7A59"/>
                </a:solidFill>
                <a:latin typeface="Inter"/>
              </a:rPr>
              <a:t>●  </a:t>
            </a:r>
            <a:r>
              <a:rPr sz="1400" b="1">
                <a:solidFill>
                  <a:srgbClr val="2B2A4C"/>
                </a:solidFill>
                <a:latin typeface="Inter"/>
              </a:rPr>
              <a:t>Fast-growing demand for kids' financial &amp; business literacy.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02336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7A59"/>
                </a:solidFill>
                <a:latin typeface="Inter"/>
              </a:rPr>
              <a:t>●  </a:t>
            </a:r>
            <a:r>
              <a:rPr sz="1400" b="1">
                <a:solidFill>
                  <a:srgbClr val="2B2A4C"/>
                </a:solidFill>
                <a:latin typeface="Inter"/>
              </a:rPr>
              <a:t>Children's audio / podcasts are booming — 'listening' fits ages 6–14.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9204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7A59"/>
                </a:solidFill>
                <a:latin typeface="Inter"/>
              </a:rPr>
              <a:t>●  </a:t>
            </a:r>
            <a:r>
              <a:rPr sz="1400" b="1">
                <a:solidFill>
                  <a:srgbClr val="2B2A4C"/>
                </a:solidFill>
                <a:latin typeface="Inter"/>
              </a:rPr>
              <a:t>Generative AI makes 'instant explainer for any brand' viable.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6634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5146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🎯  Our 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63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B2A4C"/>
                </a:solidFill>
                <a:latin typeface="Inter"/>
              </a:rPr>
              <a:t>Kid-first language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3127248"/>
            <a:ext cx="1005840" cy="365760"/>
          </a:xfrm>
          <a:prstGeom prst="roundRect">
            <a:avLst>
              <a:gd name="adj" fmla="val 8000"/>
            </a:avLst>
          </a:prstGeom>
          <a:solidFill>
            <a:srgbClr val="DD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06D6A0"/>
                </a:solidFill>
                <a:latin typeface="Inter"/>
              </a:rPr>
              <a:t>✓ unique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5204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B2A4C"/>
                </a:solidFill>
                <a:latin typeface="Inter"/>
              </a:rPr>
              <a:t>Dual-voice podcast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3584448"/>
            <a:ext cx="1005840" cy="365760"/>
          </a:xfrm>
          <a:prstGeom prst="roundRect">
            <a:avLst>
              <a:gd name="adj" fmla="val 8000"/>
            </a:avLst>
          </a:prstGeom>
          <a:solidFill>
            <a:srgbClr val="DD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06D6A0"/>
                </a:solidFill>
                <a:latin typeface="Inter"/>
              </a:rPr>
              <a:t>✓ unique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B2A4C"/>
                </a:solidFill>
                <a:latin typeface="Inter"/>
              </a:rPr>
              <a:t>Instant any-brand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4041648"/>
            <a:ext cx="1005840" cy="365760"/>
          </a:xfrm>
          <a:prstGeom prst="roundRect">
            <a:avLst>
              <a:gd name="adj" fmla="val 8000"/>
            </a:avLst>
          </a:prstGeom>
          <a:solidFill>
            <a:srgbClr val="DD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06D6A0"/>
                </a:solidFill>
                <a:latin typeface="Inter"/>
              </a:rPr>
              <a:t>✓ unique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434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B2A4C"/>
                </a:solidFill>
                <a:latin typeface="Inter"/>
              </a:rPr>
              <a:t>6-dimension business frame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4498848"/>
            <a:ext cx="1005840" cy="365760"/>
          </a:xfrm>
          <a:prstGeom prst="roundRect">
            <a:avLst>
              <a:gd name="adj" fmla="val 8000"/>
            </a:avLst>
          </a:prstGeom>
          <a:solidFill>
            <a:srgbClr val="DD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06D6A0"/>
                </a:solidFill>
                <a:latin typeface="Inter"/>
              </a:rPr>
              <a:t>✓ unique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8920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B2A4C"/>
                </a:solidFill>
                <a:latin typeface="Inter"/>
              </a:rPr>
              <a:t>Zero-key demoable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4956048"/>
            <a:ext cx="1005840" cy="365760"/>
          </a:xfrm>
          <a:prstGeom prst="roundRect">
            <a:avLst>
              <a:gd name="adj" fmla="val 8000"/>
            </a:avLst>
          </a:prstGeom>
          <a:solidFill>
            <a:srgbClr val="DD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06D6A0"/>
                </a:solidFill>
                <a:latin typeface="Inter"/>
              </a:rPr>
              <a:t>✓ unique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13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0566135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From a working demo to a platform.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25603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56231" y="25603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1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✅ MVP shipped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31 brands · bilingual · all devices · zero-key runnable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2918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0168" y="2377440"/>
            <a:ext cx="25603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39" y="25603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39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🔗 Real AI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048" y="36118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ElevenLabs/DALL·E/LLM live · user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2918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377440"/>
            <a:ext cx="25603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70647" y="25603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7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6M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🏫 B2B course pack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6" y="36118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Teacher dashboard · classroom mode · school pilots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32918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6A8F"/>
                </a:solidFill>
                <a:latin typeface="Inter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44584" y="2377440"/>
            <a:ext cx="25603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77855" y="25603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7855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12M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B2A4C"/>
                </a:solidFill>
                <a:latin typeface="Inter"/>
              </a:rPr>
              <a:t>🌍 Multilingual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36118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A8F"/>
                </a:solidFill>
                <a:latin typeface="Inter"/>
              </a:rPr>
              <a:t>EN/JP/KR · brand IP deals · subscription revenue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440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2A4C"/>
                </a:solidFill>
                <a:latin typeface="Inter"/>
              </a:rPr>
              <a:t>📐 Scaling: near-zero marginal content cost + Serverless storage → 100 → 1,000 → 10,000 brands scale linearly.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93392" y="310896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92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14</a:t>
            </a:r>
            <a:r>
              <a:rPr sz="1300" b="1">
                <a:solidFill>
                  <a:srgbClr val="6C5CE7"/>
                </a:solidFill>
                <a:latin typeface="Inter"/>
              </a:rPr>
              <a:t>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1378915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96926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WHY BRANDPEDIA KIDS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B2A4C"/>
                </a:solidFill>
                <a:latin typeface="Inter"/>
              </a:rPr>
              <a:t>Three things no one else does.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40080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3429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3429000" cy="10972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546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Education-first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1188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We use AI to translate the complex business world into stories kids understand — safe, fun, measurable.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377440"/>
            <a:ext cx="3429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377440"/>
            <a:ext cx="3429000" cy="109728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65176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546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Out-of-the-box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61188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Zero keys to demo, yet upgrades to real AI in production with no code migration.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377440"/>
            <a:ext cx="3429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377440"/>
            <a:ext cx="3429000" cy="109728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65176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2B2A4C"/>
                </a:solidFill>
                <a:latin typeface="Inter"/>
              </a:rP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1546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B2A4C"/>
                </a:solidFill>
                <a:latin typeface="Inter"/>
              </a:rPr>
              <a:t>Clear business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61188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A8F"/>
                </a:solidFill>
                <a:latin typeface="Inter"/>
              </a:rPr>
              <a:t>Three revenue lines — B2C + B2B + brand partnerships — with near-zero marginal content cost.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212080"/>
            <a:ext cx="10515600" cy="114300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34924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🎯 One line: every kid, aged 6–14, finally understands the world around them — through stories.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B2A4C"/>
                </a:solidFill>
                <a:latin typeface="Inter"/>
              </a:rPr>
              <a:t>Brand</a:t>
            </a:r>
            <a:r>
              <a:rPr sz="1300" b="1">
                <a:solidFill>
                  <a:srgbClr val="FF7A59"/>
                </a:solidFill>
                <a:latin typeface="Inter"/>
              </a:rPr>
              <a:t>Pedia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93392" y="475488"/>
            <a:ext cx="566928" cy="365760"/>
          </a:xfrm>
          <a:prstGeom prst="roundRect">
            <a:avLst>
              <a:gd name="adj" fmla="val 8000"/>
            </a:avLst>
          </a:prstGeom>
          <a:solidFill>
            <a:srgbClr val="EF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100" b="1">
                <a:solidFill>
                  <a:srgbClr val="6C5CE7"/>
                </a:solidFill>
                <a:latin typeface="Inter"/>
              </a:rPr>
              <a:t>Kids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6A8F"/>
                </a:solidFill>
                <a:latin typeface="Inter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66544"/>
            <a:ext cx="118872" cy="118872"/>
          </a:xfrm>
          <a:prstGeom prst="roundRect">
            <a:avLst>
              <a:gd name="adj" fmla="val 8000"/>
            </a:avLst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11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7A59"/>
                </a:solidFill>
                <a:latin typeface="Inter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B2A4C"/>
                </a:solidFill>
                <a:latin typeface="Inter"/>
              </a:rPr>
              <a:t>Let kids </a:t>
            </a:r>
            <a:r>
              <a:rPr sz="4400" b="1">
                <a:solidFill>
                  <a:srgbClr val="FF7A59"/>
                </a:solidFill>
                <a:latin typeface="Inter"/>
              </a:rPr>
              <a:t>hear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B2A4C"/>
                </a:solidFill>
                <a:latin typeface="Inter"/>
              </a:rPr>
              <a:t>how the world 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C5CE7"/>
                </a:solidFill>
                <a:latin typeface="Inter"/>
              </a:rPr>
              <a:t>🎤 Live demo · zero setup · npm run dev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212080"/>
            <a:ext cx="171541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450" b="1">
                <a:solidFill>
                  <a:srgbClr val="2B2A4C"/>
                </a:solidFill>
                <a:latin typeface="Inter"/>
              </a:rPr>
              <a:t>🧭 BrandPedia Kids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1254" y="5212080"/>
            <a:ext cx="2761487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450" b="1">
                <a:solidFill>
                  <a:srgbClr val="2B2A4C"/>
                </a:solidFill>
                <a:latin typeface="Inter"/>
              </a:rPr>
              <a:t>🏆 IAI²O 2026 · AI for Business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5621" y="5212080"/>
            <a:ext cx="91074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 lIns="76200" rIns="76200"/>
          <a:lstStyle/>
          <a:p>
            <a:pPr algn="ctr"/>
            <a:r>
              <a:rPr sz="1450" b="1">
                <a:solidFill>
                  <a:srgbClr val="2B2A4C"/>
                </a:solidFill>
                <a:latin typeface="Inter"/>
              </a:rPr>
              <a:t>❓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